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D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157200</c:v>
                </c:pt>
                <c:pt idx="1">
                  <c:v>121400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D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56-65</c:v>
                  </c:pt>
                  <c:pt idx="5">
                    <c:v>65+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38200</c:v>
                </c:pt>
                <c:pt idx="1">
                  <c:v>62400</c:v>
                </c:pt>
                <c:pt idx="2">
                  <c:v>71500</c:v>
                </c:pt>
                <c:pt idx="3">
                  <c:v>58900</c:v>
                </c:pt>
                <c:pt idx="4">
                  <c:v>41300</c:v>
                </c:pt>
                <c:pt idx="5">
                  <c:v>25400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Subscribers</c:v>
                </c:pt>
                <c:pt idx="1">
                  <c:v>Non-Subscribers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1482</c:v>
                </c:pt>
                <c:pt idx="1">
                  <c:v>2418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E85D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Blouse</c:v>
                  </c:pt>
                  <c:pt idx="1">
                    <c:v>Sweater</c:v>
                  </c:pt>
                  <c:pt idx="2">
                    <c:v>Jeans</c:v>
                  </c:pt>
                  <c:pt idx="3">
                    <c:v>Jacket</c:v>
                  </c:pt>
                  <c:pt idx="4">
                    <c:v>Shoes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58</c:v>
                </c:pt>
                <c:pt idx="2">
                  <c:v>55</c:v>
                </c:pt>
                <c:pt idx="3">
                  <c:v>52</c:v>
                </c:pt>
                <c:pt idx="4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Amount ($)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</c:v>
                </c:pt>
                <c:pt idx="1">
                  <c:v>72.8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 (out of 5)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Hoodie</c:v>
                  </c:pt>
                  <c:pt idx="1">
                    <c:v>Dress</c:v>
                  </c:pt>
                  <c:pt idx="2">
                    <c:v>Coat</c:v>
                  </c:pt>
                  <c:pt idx="3">
                    <c:v>Sneakers</c:v>
                  </c:pt>
                  <c:pt idx="4">
                    <c:v>Scarf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4.7</c:v>
                </c:pt>
                <c:pt idx="1">
                  <c:v>4.6</c:v>
                </c:pt>
                <c:pt idx="2">
                  <c:v>4.5</c:v>
                </c:pt>
                <c:pt idx="3">
                  <c:v>4.4</c:v>
                </c:pt>
                <c:pt idx="4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1x</c:v>
                  </c:pt>
                  <c:pt idx="1">
                    <c:v>2x</c:v>
                  </c:pt>
                  <c:pt idx="2">
                    <c:v>3x</c:v>
                  </c:pt>
                  <c:pt idx="3">
                    <c:v>4x</c:v>
                  </c:pt>
                  <c:pt idx="4">
                    <c:v>5x</c:v>
                  </c:pt>
                  <c:pt idx="5">
                    <c:v>6x</c:v>
                  </c:pt>
                  <c:pt idx="6">
                    <c:v>7x</c:v>
                  </c:pt>
                  <c:pt idx="7">
                    <c:v>8x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</c:v>
                </c:pt>
                <c:pt idx="1">
                  <c:v>590</c:v>
                </c:pt>
                <c:pt idx="2">
                  <c:v>680</c:v>
                </c:pt>
                <c:pt idx="3">
                  <c:v>730</c:v>
                </c:pt>
                <c:pt idx="4">
                  <c:v>610</c:v>
                </c:pt>
                <c:pt idx="5">
                  <c:v>480</c:v>
                </c:pt>
                <c:pt idx="6">
                  <c:v>260</c:v>
                </c:pt>
                <c:pt idx="7">
                  <c:v>130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972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Intelligence · 3,900 Purchases · 18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200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spending patterns, customer segments &amp; growth opportunities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886200"/>
            <a:ext cx="457200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Python · PostgreSQL · Power BI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54864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005840"/>
            <a:ext cx="1097280" cy="1097280"/>
          </a:xfrm>
          <a:prstGeom prst="ellipse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33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78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8912" y="14356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purchase records · 18 attributes covering demographics, transactions &amp; behavior patterns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402336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6868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0332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978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19472" y="14356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+ PostgreSQL SQL queries uncovering revenue, segments &amp; discount behavior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788920"/>
            <a:ext cx="402336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78892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9535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2898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38912" y="33558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into New, Returning &amp; Loyal customers based on purchase frequency &amp; history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788920"/>
            <a:ext cx="402336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78892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9535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3248" y="2898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19472" y="33558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strategic recommendations for subscriptions, loyalty programs &amp; targeted marketing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1448" y="822960"/>
            <a:ext cx="192024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868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41448" y="1572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08576" y="822960"/>
            <a:ext cx="192024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868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08576" y="1572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5704" y="822960"/>
            <a:ext cx="192024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868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75704" y="1572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265176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3957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Age Groups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331720"/>
            <a:ext cx="265176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23957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2816352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&amp; Category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&amp; Size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331720"/>
            <a:ext cx="265176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23957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816352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777240"/>
            <a:ext cx="292608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777240"/>
            <a:ext cx="29260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804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32588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generate ~23% more revenue than female customers.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segment: $157,200 total revenue.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segment: $121,400 total revenue.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grow female segment through targeted promotions.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Gender-specific product bundles could close the revenue gap.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822960"/>
            <a:ext cx="2651760" cy="1097280"/>
          </a:xfrm>
          <a:prstGeom prst="rect">
            <a:avLst/>
          </a:prstGeom>
          <a:solidFill>
            <a:srgbClr val="1B2A4A"/>
          </a:solidFill>
          <a:ln w="1016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896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$71,500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09360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group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103120"/>
            <a:ext cx="26517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09360" y="2423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$62,400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09360" y="2816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highest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3383280"/>
            <a:ext cx="26517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3456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3703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$58,900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09360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highest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3749040"/>
            <a:ext cx="2651760" cy="640080"/>
          </a:xfrm>
          <a:prstGeom prst="rect">
            <a:avLst/>
          </a:prstGeom>
          <a:solidFill>
            <a:srgbClr val="EEF9F8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investment on the 26–45 age band — highest revenue contribution.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vs. Non-Subscribers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822960"/>
          <a:ext cx="402336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Non-Subscribers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Spend /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Purchase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846320" y="3383280"/>
            <a:ext cx="4023360" cy="1389888"/>
          </a:xfrm>
          <a:prstGeom prst="rect">
            <a:avLst/>
          </a:prstGeom>
          <a:solidFill>
            <a:srgbClr val="EEF9F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983480" y="34747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Subscribers spend 15% more per order and repurchase at a 45% higher rate.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non-subscribers with exclusive perks could significantly lift LTV.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43200" cy="50292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955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7955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716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38988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~1,092 customers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8328" y="199339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purchases. Price-sensitive, need onboarding incentives. High risk of churn without engagement.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" y="3063240"/>
            <a:ext cx="2523744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" y="31272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" y="342900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discount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nurture series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guide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54680" y="777240"/>
            <a:ext cx="274320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7772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7955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709160" y="7955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46120" y="138988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~1,638 customers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264408" y="199339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purchases. Familiar with brand. Ripe for loyalty program enrollment and upsell opportunities.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264408" y="3063240"/>
            <a:ext cx="2523744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64408" y="31272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264408" y="342900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 invitation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upsells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Season-specific offers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80760" y="777240"/>
            <a:ext cx="2743200" cy="4069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80760" y="7772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72200" y="7955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635240" y="7955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172200" y="138988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~1,170 customers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190488" y="199339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purchases. High LTV. Advocates for the brand. Priority retention and exclusive perks drive satisfaction.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90488" y="3063240"/>
            <a:ext cx="2523744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190488" y="31272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190488" y="342900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benefits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launches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Shipping Behavior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Discount-Dependent Products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Standard vs Express Shipping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846320" y="109728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&amp; Review Ratings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Avg Rating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4389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749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 by Category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143000"/>
            <a:ext cx="40233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14300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83480" y="14904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  ·  T-Shirt  ·  Jeans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103120"/>
            <a:ext cx="40233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10312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24505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  ·  Boots  ·  Sandals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3063240"/>
            <a:ext cx="40233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06324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83480" y="3410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  ·  Coat  ·  Hoodie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4023360"/>
            <a:ext cx="402336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402336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83480" y="4370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Scarf  ·  Belt  ·  Gloves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Discount Users &amp; Purchase Frequency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965960" cy="1143000"/>
          </a:xfrm>
          <a:prstGeom prst="rect">
            <a:avLst/>
          </a:prstGeom>
          <a:solidFill>
            <a:srgbClr val="E85D4A"/>
          </a:solidFill>
          <a:ln w="10160">
            <a:solidFill>
              <a:srgbClr val="E85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50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Users Above Avg Spend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804672"/>
            <a:ext cx="19659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50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(High Discount Users)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804672"/>
            <a:ext cx="19659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50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Spend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804672"/>
            <a:ext cx="19659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8503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Utilization 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Distribution (per annum)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2423160"/>
          <a:ext cx="54864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035040" y="2084832"/>
            <a:ext cx="2834640" cy="2761488"/>
          </a:xfrm>
          <a:prstGeom prst="rect">
            <a:avLst/>
          </a:prstGeom>
          <a:solidFill>
            <a:srgbClr val="EEF9F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26480" y="251460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frequency is 4x/year — most customers are moderate buyers.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High-discount users still spend 43% above the overall average.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frequent buyers (7x+) represent a small but high-LTV segment.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Dashboard — KPIs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961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$278,600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09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04672"/>
            <a:ext cx="274320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961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/ 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609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274320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961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609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274320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3134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4320" y="3026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221992"/>
            <a:ext cx="274320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3134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00400" y="3026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Utilization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221992"/>
            <a:ext cx="274320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3134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3026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Frequency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solidFill>
            <a:srgbClr val="EEF9F8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537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3,900 transactions · Analysis: Python EDA + PostgreSQL · Visualization: Power BI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8778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35024"/>
            <a:ext cx="24688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26464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subscriber benefits (early access, free shipping, loyalty points). Target the 62% non-subscriber base with a limited-time trial.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74320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046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8778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335024"/>
            <a:ext cx="24688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26464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tiered rewards for Returning customers to graduate to Loyal. Milestone bonuses at purchase 3, 6, and 10 drive retention significantly.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04672"/>
            <a:ext cx="274320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04672"/>
            <a:ext cx="502920" cy="50292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8778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335024"/>
            <a:ext cx="24688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26464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like Blouse (62% discount rate) have margin risk. Set category discount caps and redirect savings toward loyalty currency instead.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953512"/>
            <a:ext cx="411480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53512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0266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483864"/>
            <a:ext cx="38404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75304"/>
            <a:ext cx="3858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ad spend on the 26–45 age group and Express shipping users — both show premium spend behavior. Personalize campaigns by segment.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953512"/>
            <a:ext cx="411480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953512"/>
            <a:ext cx="5029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49040" y="30266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91840" y="3483864"/>
            <a:ext cx="38404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575304"/>
            <a:ext cx="3858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top-rated products (Hoodie 4.7★, Dress 4.6★) in homepage banners and email campaigns to drive conversion.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28600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907792"/>
            <a:ext cx="457200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090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Insights  ·  Strategy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Python · PostgreSQL · 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Business Intelligence Team</dc:creator>
  <cp:lastModifiedBy>Business Intelligence Team</cp:lastModifiedBy>
  <cp:revision>1</cp:revision>
  <dcterms:created xsi:type="dcterms:W3CDTF">2026-06-04T03:52:13Z</dcterms:created>
  <dcterms:modified xsi:type="dcterms:W3CDTF">2026-06-04T03:52:13Z</dcterms:modified>
</cp:coreProperties>
</file>